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78" r:id="rId2"/>
    <p:sldId id="257" r:id="rId3"/>
    <p:sldId id="311" r:id="rId4"/>
    <p:sldId id="310" r:id="rId5"/>
    <p:sldId id="313" r:id="rId6"/>
    <p:sldId id="312" r:id="rId7"/>
    <p:sldId id="314" r:id="rId8"/>
    <p:sldId id="315" r:id="rId9"/>
    <p:sldId id="316" r:id="rId10"/>
    <p:sldId id="31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an Maharjan" userId="48dc6efd9310a6f8" providerId="LiveId" clId="{A29EAAF3-DE4A-43BD-A2CC-2AF16CCF26A6}"/>
    <pc:docChg chg="custSel delSld modSld">
      <pc:chgData name="Rusan Maharjan" userId="48dc6efd9310a6f8" providerId="LiveId" clId="{A29EAAF3-DE4A-43BD-A2CC-2AF16CCF26A6}" dt="2026-04-27T12:16:50.957" v="11" actId="47"/>
      <pc:docMkLst>
        <pc:docMk/>
      </pc:docMkLst>
      <pc:sldChg chg="delSp mod">
        <pc:chgData name="Rusan Maharjan" userId="48dc6efd9310a6f8" providerId="LiveId" clId="{A29EAAF3-DE4A-43BD-A2CC-2AF16CCF26A6}" dt="2026-04-27T12:16:32.328" v="3" actId="478"/>
        <pc:sldMkLst>
          <pc:docMk/>
          <pc:sldMk cId="1570368302" sldId="257"/>
        </pc:sldMkLst>
        <pc:picChg chg="del">
          <ac:chgData name="Rusan Maharjan" userId="48dc6efd9310a6f8" providerId="LiveId" clId="{A29EAAF3-DE4A-43BD-A2CC-2AF16CCF26A6}" dt="2026-04-27T12:16:32.328" v="3" actId="478"/>
          <ac:picMkLst>
            <pc:docMk/>
            <pc:sldMk cId="1570368302" sldId="257"/>
            <ac:picMk id="4" creationId="{6A559234-1F09-1F93-8217-12BE2671DD1B}"/>
          </ac:picMkLst>
        </pc:picChg>
      </pc:sldChg>
      <pc:sldChg chg="del">
        <pc:chgData name="Rusan Maharjan" userId="48dc6efd9310a6f8" providerId="LiveId" clId="{A29EAAF3-DE4A-43BD-A2CC-2AF16CCF26A6}" dt="2026-04-27T12:16:50.957" v="11" actId="47"/>
        <pc:sldMkLst>
          <pc:docMk/>
          <pc:sldMk cId="3164673525" sldId="266"/>
        </pc:sldMkLst>
      </pc:sldChg>
      <pc:sldChg chg="del">
        <pc:chgData name="Rusan Maharjan" userId="48dc6efd9310a6f8" providerId="LiveId" clId="{A29EAAF3-DE4A-43BD-A2CC-2AF16CCF26A6}" dt="2026-04-27T12:16:22.793" v="0" actId="47"/>
        <pc:sldMkLst>
          <pc:docMk/>
          <pc:sldMk cId="0" sldId="275"/>
        </pc:sldMkLst>
      </pc:sldChg>
      <pc:sldChg chg="delSp mod">
        <pc:chgData name="Rusan Maharjan" userId="48dc6efd9310a6f8" providerId="LiveId" clId="{A29EAAF3-DE4A-43BD-A2CC-2AF16CCF26A6}" dt="2026-04-27T12:16:29.306" v="2" actId="478"/>
        <pc:sldMkLst>
          <pc:docMk/>
          <pc:sldMk cId="18025388" sldId="278"/>
        </pc:sldMkLst>
        <pc:spChg chg="del">
          <ac:chgData name="Rusan Maharjan" userId="48dc6efd9310a6f8" providerId="LiveId" clId="{A29EAAF3-DE4A-43BD-A2CC-2AF16CCF26A6}" dt="2026-04-27T12:16:29.306" v="2" actId="478"/>
          <ac:spMkLst>
            <pc:docMk/>
            <pc:sldMk cId="18025388" sldId="278"/>
            <ac:spMk id="27" creationId="{11516457-5A1C-4D19-25E0-4C546FD6A03B}"/>
          </ac:spMkLst>
        </pc:spChg>
        <pc:picChg chg="del">
          <ac:chgData name="Rusan Maharjan" userId="48dc6efd9310a6f8" providerId="LiveId" clId="{A29EAAF3-DE4A-43BD-A2CC-2AF16CCF26A6}" dt="2026-04-27T12:16:25.700" v="1" actId="478"/>
          <ac:picMkLst>
            <pc:docMk/>
            <pc:sldMk cId="18025388" sldId="278"/>
            <ac:picMk id="26" creationId="{AE04EA27-0856-5AFA-486B-886C6741B5CD}"/>
          </ac:picMkLst>
        </pc:picChg>
      </pc:sldChg>
      <pc:sldChg chg="delSp mod">
        <pc:chgData name="Rusan Maharjan" userId="48dc6efd9310a6f8" providerId="LiveId" clId="{A29EAAF3-DE4A-43BD-A2CC-2AF16CCF26A6}" dt="2026-04-27T12:16:36.336" v="4" actId="478"/>
        <pc:sldMkLst>
          <pc:docMk/>
          <pc:sldMk cId="1349156220" sldId="310"/>
        </pc:sldMkLst>
        <pc:picChg chg="del">
          <ac:chgData name="Rusan Maharjan" userId="48dc6efd9310a6f8" providerId="LiveId" clId="{A29EAAF3-DE4A-43BD-A2CC-2AF16CCF26A6}" dt="2026-04-27T12:16:36.336" v="4" actId="478"/>
          <ac:picMkLst>
            <pc:docMk/>
            <pc:sldMk cId="1349156220" sldId="310"/>
            <ac:picMk id="4" creationId="{0DDE19ED-DE73-8516-9C97-EE5B17C143A7}"/>
          </ac:picMkLst>
        </pc:picChg>
      </pc:sldChg>
      <pc:sldChg chg="delSp mod">
        <pc:chgData name="Rusan Maharjan" userId="48dc6efd9310a6f8" providerId="LiveId" clId="{A29EAAF3-DE4A-43BD-A2CC-2AF16CCF26A6}" dt="2026-04-27T12:16:39.701" v="6" actId="478"/>
        <pc:sldMkLst>
          <pc:docMk/>
          <pc:sldMk cId="3015307692" sldId="312"/>
        </pc:sldMkLst>
        <pc:picChg chg="del">
          <ac:chgData name="Rusan Maharjan" userId="48dc6efd9310a6f8" providerId="LiveId" clId="{A29EAAF3-DE4A-43BD-A2CC-2AF16CCF26A6}" dt="2026-04-27T12:16:39.701" v="6" actId="478"/>
          <ac:picMkLst>
            <pc:docMk/>
            <pc:sldMk cId="3015307692" sldId="312"/>
            <ac:picMk id="4" creationId="{404E4ACA-88D4-461D-2D16-FACC68DA4C83}"/>
          </ac:picMkLst>
        </pc:picChg>
      </pc:sldChg>
      <pc:sldChg chg="delSp mod">
        <pc:chgData name="Rusan Maharjan" userId="48dc6efd9310a6f8" providerId="LiveId" clId="{A29EAAF3-DE4A-43BD-A2CC-2AF16CCF26A6}" dt="2026-04-27T12:16:38.005" v="5" actId="478"/>
        <pc:sldMkLst>
          <pc:docMk/>
          <pc:sldMk cId="3763666000" sldId="313"/>
        </pc:sldMkLst>
        <pc:picChg chg="del">
          <ac:chgData name="Rusan Maharjan" userId="48dc6efd9310a6f8" providerId="LiveId" clId="{A29EAAF3-DE4A-43BD-A2CC-2AF16CCF26A6}" dt="2026-04-27T12:16:38.005" v="5" actId="478"/>
          <ac:picMkLst>
            <pc:docMk/>
            <pc:sldMk cId="3763666000" sldId="313"/>
            <ac:picMk id="4" creationId="{02261A78-C663-20B5-E0AD-9AA62A40D26A}"/>
          </ac:picMkLst>
        </pc:picChg>
      </pc:sldChg>
      <pc:sldChg chg="delSp mod">
        <pc:chgData name="Rusan Maharjan" userId="48dc6efd9310a6f8" providerId="LiveId" clId="{A29EAAF3-DE4A-43BD-A2CC-2AF16CCF26A6}" dt="2026-04-27T12:16:41.822" v="7" actId="478"/>
        <pc:sldMkLst>
          <pc:docMk/>
          <pc:sldMk cId="2855518540" sldId="314"/>
        </pc:sldMkLst>
        <pc:picChg chg="del">
          <ac:chgData name="Rusan Maharjan" userId="48dc6efd9310a6f8" providerId="LiveId" clId="{A29EAAF3-DE4A-43BD-A2CC-2AF16CCF26A6}" dt="2026-04-27T12:16:41.822" v="7" actId="478"/>
          <ac:picMkLst>
            <pc:docMk/>
            <pc:sldMk cId="2855518540" sldId="314"/>
            <ac:picMk id="4" creationId="{1D8E4196-35C9-4E90-8AD1-575073F97700}"/>
          </ac:picMkLst>
        </pc:picChg>
      </pc:sldChg>
      <pc:sldChg chg="delSp mod">
        <pc:chgData name="Rusan Maharjan" userId="48dc6efd9310a6f8" providerId="LiveId" clId="{A29EAAF3-DE4A-43BD-A2CC-2AF16CCF26A6}" dt="2026-04-27T12:16:45.271" v="8" actId="478"/>
        <pc:sldMkLst>
          <pc:docMk/>
          <pc:sldMk cId="2062719403" sldId="315"/>
        </pc:sldMkLst>
        <pc:picChg chg="del">
          <ac:chgData name="Rusan Maharjan" userId="48dc6efd9310a6f8" providerId="LiveId" clId="{A29EAAF3-DE4A-43BD-A2CC-2AF16CCF26A6}" dt="2026-04-27T12:16:45.271" v="8" actId="478"/>
          <ac:picMkLst>
            <pc:docMk/>
            <pc:sldMk cId="2062719403" sldId="315"/>
            <ac:picMk id="4" creationId="{45601A2D-1440-D0C0-E689-16E265F55AF6}"/>
          </ac:picMkLst>
        </pc:picChg>
      </pc:sldChg>
      <pc:sldChg chg="delSp mod">
        <pc:chgData name="Rusan Maharjan" userId="48dc6efd9310a6f8" providerId="LiveId" clId="{A29EAAF3-DE4A-43BD-A2CC-2AF16CCF26A6}" dt="2026-04-27T12:16:46.815" v="9" actId="478"/>
        <pc:sldMkLst>
          <pc:docMk/>
          <pc:sldMk cId="1468227778" sldId="316"/>
        </pc:sldMkLst>
        <pc:picChg chg="del">
          <ac:chgData name="Rusan Maharjan" userId="48dc6efd9310a6f8" providerId="LiveId" clId="{A29EAAF3-DE4A-43BD-A2CC-2AF16CCF26A6}" dt="2026-04-27T12:16:46.815" v="9" actId="478"/>
          <ac:picMkLst>
            <pc:docMk/>
            <pc:sldMk cId="1468227778" sldId="316"/>
            <ac:picMk id="4" creationId="{CE277E5D-4B71-7667-18D7-F4DFFEB42835}"/>
          </ac:picMkLst>
        </pc:picChg>
      </pc:sldChg>
      <pc:sldChg chg="delSp mod">
        <pc:chgData name="Rusan Maharjan" userId="48dc6efd9310a6f8" providerId="LiveId" clId="{A29EAAF3-DE4A-43BD-A2CC-2AF16CCF26A6}" dt="2026-04-27T12:16:48.443" v="10" actId="478"/>
        <pc:sldMkLst>
          <pc:docMk/>
          <pc:sldMk cId="1319037603" sldId="317"/>
        </pc:sldMkLst>
        <pc:picChg chg="del">
          <ac:chgData name="Rusan Maharjan" userId="48dc6efd9310a6f8" providerId="LiveId" clId="{A29EAAF3-DE4A-43BD-A2CC-2AF16CCF26A6}" dt="2026-04-27T12:16:48.443" v="10" actId="478"/>
          <ac:picMkLst>
            <pc:docMk/>
            <pc:sldMk cId="1319037603" sldId="317"/>
            <ac:picMk id="4" creationId="{F33809CD-C48C-DE2C-6DD1-522D11E79366}"/>
          </ac:picMkLst>
        </pc:picChg>
      </pc:sldChg>
    </pc:docChg>
  </pc:docChgLst>
  <pc:docChgLst>
    <pc:chgData name="Rusan Maharjan" userId="48dc6efd9310a6f8" providerId="LiveId" clId="{EBF54B4E-2B2B-41E7-A671-DA12A857C654}"/>
    <pc:docChg chg="undo redo custSel addSld modSld sldOrd">
      <pc:chgData name="Rusan Maharjan" userId="48dc6efd9310a6f8" providerId="LiveId" clId="{EBF54B4E-2B2B-41E7-A671-DA12A857C654}" dt="2026-01-14T12:56:56.242" v="3135" actId="20577"/>
      <pc:docMkLst>
        <pc:docMk/>
      </pc:docMkLst>
      <pc:sldChg chg="modSp add mod">
        <pc:chgData name="Rusan Maharjan" userId="48dc6efd9310a6f8" providerId="LiveId" clId="{EBF54B4E-2B2B-41E7-A671-DA12A857C654}" dt="2026-01-14T12:56:56.242" v="3135" actId="20577"/>
        <pc:sldMkLst>
          <pc:docMk/>
          <pc:sldMk cId="1468227778" sldId="316"/>
        </pc:sldMkLst>
        <pc:spChg chg="mod">
          <ac:chgData name="Rusan Maharjan" userId="48dc6efd9310a6f8" providerId="LiveId" clId="{EBF54B4E-2B2B-41E7-A671-DA12A857C654}" dt="2026-01-14T12:56:56.242" v="3135" actId="20577"/>
          <ac:spMkLst>
            <pc:docMk/>
            <pc:sldMk cId="1468227778" sldId="316"/>
            <ac:spMk id="3" creationId="{989BC0FF-E2FE-08D9-94CD-16897AA1E9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5256C-427D-4B8E-9032-8827591CFC6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12A59-8C2A-4BE5-9D0C-79EDEC29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37F0F-33B5-4DAD-B98E-3274FB5019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7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3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4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3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9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8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5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30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33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01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6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29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709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63EB77-125F-4FB9-9BFC-CBA131192D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8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B77260C6-50FE-6806-F84E-4A48BBD2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2" y="552241"/>
            <a:ext cx="4448554" cy="763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Hypothesis Testing</a:t>
            </a:r>
            <a:endParaRPr lang="en-US" b="1" dirty="0">
              <a:latin typeface="Amasis MT Pro" panose="020F0502020204030204" pitchFamily="18" charset="0"/>
            </a:endParaRP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23CEDA3-38C2-3FC1-DEF2-63147BE5A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1" y="1774394"/>
            <a:ext cx="5545835" cy="2134127"/>
          </a:xfrm>
        </p:spPr>
        <p:txBody>
          <a:bodyPr>
            <a:normAutofit/>
          </a:bodyPr>
          <a:lstStyle/>
          <a:p>
            <a:pPr marL="0" marR="0" lvl="0" indent="0" algn="just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dirty="0"/>
              <a:t>Process of extracting our sample from a population and conducting a test on it is hypothesis testing.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A63065-51E4-DF3D-8573-B414515AF687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053C495-C99F-F825-8AED-6BEB0253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2652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03987-694F-2529-EA60-0BBA7D86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770" y="202242"/>
            <a:ext cx="4845981" cy="90106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BFF06-91A0-9FA6-F98F-85DA01D77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103302"/>
            <a:ext cx="5830300" cy="283776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What is hypothesis testing?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Types of hypothesis testing.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ADLaM Display" panose="02010000000000000000" pitchFamily="2" charset="0"/>
                <a:cs typeface="ADLaM Display" panose="02010000000000000000" pitchFamily="2" charset="0"/>
              </a:rPr>
              <a:t>Rules of hypothesis testing.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Alpha vs. P-value</a:t>
            </a:r>
            <a:endParaRPr lang="en-US" sz="18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6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EF08599-3FED-4288-A20D-E7BCAC3B8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F32D42BB-23D5-B3AC-65E7-3E2A820CD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Freeform 13">
            <a:extLst>
              <a:ext uri="{FF2B5EF4-FFF2-40B4-BE49-F238E27FC236}">
                <a16:creationId xmlns:a16="http://schemas.microsoft.com/office/drawing/2014/main" id="{C884A6B2-90E9-4BDB-8503-71AC02D3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7340600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0600" h="6883400">
                <a:moveTo>
                  <a:pt x="5427133" y="8466"/>
                </a:moveTo>
                <a:lnTo>
                  <a:pt x="4783666" y="2573866"/>
                </a:lnTo>
                <a:lnTo>
                  <a:pt x="7340600" y="6874933"/>
                </a:lnTo>
                <a:lnTo>
                  <a:pt x="0" y="6883400"/>
                </a:lnTo>
                <a:lnTo>
                  <a:pt x="8466" y="0"/>
                </a:lnTo>
                <a:lnTo>
                  <a:pt x="5427133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8483A-A464-CD70-D96D-7BF7A700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34067"/>
            <a:ext cx="4080932" cy="33104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>
                <a:solidFill>
                  <a:schemeClr val="bg1"/>
                </a:solidFill>
              </a:rPr>
              <a:t>Hypothesis Testing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046BC8-D404-4E7D-9202-A07F3FDD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4100" y="-4763"/>
            <a:ext cx="5014912" cy="6862763"/>
            <a:chOff x="2928938" y="-4763"/>
            <a:chExt cx="5014912" cy="6862763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C202215-4C35-450D-9F60-671C8F8DE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1A5BA8A-AEB4-4BCB-B86C-3F6A8E229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28AC2443-05F0-41CD-8D4A-63DE144F8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3E32F17-ED99-4969-B4D6-10A987D73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5599A813-8424-4E53-95CA-85BF5470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2431A4F-4662-480B-8AD3-394EACD7E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77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AEA7-DEE4-9301-8D23-F36E5392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8C31-ECFB-B07D-9BE4-674D6EEB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5453123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D7ED0-51E1-D8D1-E17E-AE3DF8A8D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3734802"/>
          </a:xfrm>
        </p:spPr>
        <p:txBody>
          <a:bodyPr>
            <a:normAutofit/>
          </a:bodyPr>
          <a:lstStyle/>
          <a:p>
            <a:r>
              <a:rPr lang="en-US" dirty="0"/>
              <a:t>Hypothesis Testing is used to confirm your conclusion about the population.</a:t>
            </a:r>
          </a:p>
          <a:p>
            <a:r>
              <a:rPr lang="en-US" dirty="0"/>
              <a:t>Through Hypothesis testing you can determine whether there is enough evidence to conclude if the hypothesis about the population parameter is true or not.</a:t>
            </a:r>
          </a:p>
          <a:p>
            <a:r>
              <a:rPr lang="en-US" dirty="0"/>
              <a:t>There are two types of hypothesis:</a:t>
            </a:r>
          </a:p>
          <a:p>
            <a:pPr lvl="1"/>
            <a:r>
              <a:rPr lang="en-US" b="1" dirty="0"/>
              <a:t>Null Hypothesis (Ho)</a:t>
            </a:r>
          </a:p>
          <a:p>
            <a:pPr lvl="1"/>
            <a:r>
              <a:rPr lang="en-US" b="1" dirty="0"/>
              <a:t>Alternate Hypothesis (Ha)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E5154EC-F03E-AE4F-864D-74F702B87414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5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C2AE-53A8-070D-78BA-A6B9756C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19EE-4A8E-BA6D-74AF-1DA7BEFA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D29CB-85CF-16FC-50BA-89009DE89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1971318"/>
          </a:xfrm>
        </p:spPr>
        <p:txBody>
          <a:bodyPr>
            <a:normAutofit/>
          </a:bodyPr>
          <a:lstStyle/>
          <a:p>
            <a:r>
              <a:rPr lang="en-US" b="1" dirty="0"/>
              <a:t>T-Test</a:t>
            </a:r>
          </a:p>
          <a:p>
            <a:r>
              <a:rPr lang="en-US" b="1" dirty="0"/>
              <a:t>ANOVA Test (Analysis of Variance)</a:t>
            </a:r>
          </a:p>
          <a:p>
            <a:r>
              <a:rPr lang="en-US" b="1" dirty="0"/>
              <a:t>Chi-Squared Test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0A8CCD-3745-7525-D61D-8ED61190771B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6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349D-FBE4-2E4A-35C7-D319C990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5709-6EFC-ECE7-3B85-C355EAF4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5874-ED21-C913-3D30-4FD07937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373480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Null Hypothesis Signs:</a:t>
            </a:r>
          </a:p>
          <a:p>
            <a:pPr lvl="1"/>
            <a:r>
              <a:rPr lang="en-US" b="1" dirty="0"/>
              <a:t>=</a:t>
            </a:r>
            <a:r>
              <a:rPr lang="en-US" dirty="0"/>
              <a:t> OR </a:t>
            </a:r>
            <a:r>
              <a:rPr lang="en-US" b="1" dirty="0"/>
              <a:t>&lt;= </a:t>
            </a:r>
            <a:r>
              <a:rPr lang="en-US" dirty="0"/>
              <a:t>OR </a:t>
            </a:r>
            <a:r>
              <a:rPr lang="en-US" b="1" dirty="0"/>
              <a:t>&gt;=</a:t>
            </a:r>
          </a:p>
          <a:p>
            <a:r>
              <a:rPr lang="en-US" b="1" dirty="0"/>
              <a:t>Alternate Hypothesis Signs:</a:t>
            </a:r>
          </a:p>
          <a:p>
            <a:pPr lvl="1"/>
            <a:r>
              <a:rPr lang="en-US" b="1"/>
              <a:t>!= </a:t>
            </a:r>
            <a:r>
              <a:rPr lang="en-US"/>
              <a:t>OR </a:t>
            </a:r>
            <a:r>
              <a:rPr lang="en-US" b="1" dirty="0"/>
              <a:t>&gt;</a:t>
            </a:r>
            <a:r>
              <a:rPr lang="en-US" dirty="0"/>
              <a:t> OR </a:t>
            </a:r>
            <a:r>
              <a:rPr lang="en-US" b="1" dirty="0"/>
              <a:t>&lt;</a:t>
            </a:r>
          </a:p>
          <a:p>
            <a:r>
              <a:rPr lang="en-US" b="1" dirty="0"/>
              <a:t>Note: These signs only work for T-Test and ANOVA Test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Total Valuation &gt;= $20 Billion </a:t>
            </a:r>
            <a:r>
              <a:rPr lang="en-US" dirty="0">
                <a:sym typeface="Wingdings" panose="05000000000000000000" pitchFamily="2" charset="2"/>
              </a:rPr>
              <a:t> Null Hypothesis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Total Valuation &lt; $20 Billion  Alternate Hypothesis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C594F4-CD61-C204-52FD-F2D593572479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30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E488-93E8-8D80-51A0-305A1F4B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2CD-9339-1CB2-D71A-0F9D8E45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0231-9749-0716-574B-11BADD48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399035"/>
            <a:ext cx="10018713" cy="4059932"/>
          </a:xfrm>
        </p:spPr>
        <p:txBody>
          <a:bodyPr>
            <a:normAutofit/>
          </a:bodyPr>
          <a:lstStyle/>
          <a:p>
            <a:r>
              <a:rPr lang="en-US" b="1" dirty="0"/>
              <a:t>T-Test</a:t>
            </a:r>
          </a:p>
          <a:p>
            <a:pPr lvl="1"/>
            <a:r>
              <a:rPr lang="en-US" b="1" dirty="0"/>
              <a:t>One-Sample T-Test</a:t>
            </a:r>
          </a:p>
          <a:p>
            <a:pPr lvl="2"/>
            <a:r>
              <a:rPr lang="en-US" b="1" dirty="0"/>
              <a:t>When to use: </a:t>
            </a:r>
            <a:r>
              <a:rPr lang="en-US" dirty="0"/>
              <a:t>You compare the mean of one sample group against a known, fixed number.</a:t>
            </a:r>
          </a:p>
          <a:p>
            <a:pPr lvl="2"/>
            <a:r>
              <a:rPr lang="en-US" b="1" dirty="0"/>
              <a:t>Business Question:</a:t>
            </a:r>
            <a:r>
              <a:rPr lang="en-US" dirty="0"/>
              <a:t> Is the average total_price of all pizza sales different from $15.</a:t>
            </a:r>
          </a:p>
          <a:p>
            <a:pPr lvl="1"/>
            <a:r>
              <a:rPr lang="en-US" b="1" dirty="0"/>
              <a:t>Two-Sample T-Test</a:t>
            </a:r>
          </a:p>
          <a:p>
            <a:pPr lvl="2"/>
            <a:r>
              <a:rPr lang="en-US" b="1" dirty="0"/>
              <a:t>When to use: </a:t>
            </a:r>
            <a:r>
              <a:rPr lang="en-US" dirty="0"/>
              <a:t>You compare the mean of two independent sample groups (like two different product categories or two marketing ads).</a:t>
            </a:r>
          </a:p>
          <a:p>
            <a:pPr lvl="2"/>
            <a:r>
              <a:rPr lang="en-US" b="1" dirty="0"/>
              <a:t>For example: </a:t>
            </a:r>
            <a:r>
              <a:rPr lang="en-US" dirty="0"/>
              <a:t>We used this test to compare the average unit_price of classic pizzas vs. Chicken Pizzas.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063BAD-941A-5B2E-FA9C-F6E1BC073383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1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B609-88EF-5566-BB6F-0CF6695D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A821-1121-51BB-56E2-B3AC5FF8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CF0C-6315-DABD-97AB-F217BECE5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3617239"/>
          </a:xfrm>
        </p:spPr>
        <p:txBody>
          <a:bodyPr>
            <a:normAutofit/>
          </a:bodyPr>
          <a:lstStyle/>
          <a:p>
            <a:r>
              <a:rPr lang="en-US" b="1" dirty="0"/>
              <a:t>ANOVA Test</a:t>
            </a:r>
          </a:p>
          <a:p>
            <a:pPr lvl="1"/>
            <a:r>
              <a:rPr lang="en-US" dirty="0"/>
              <a:t>ANOVA is an extension of the T-Test. You use it when you want to compare the means of three or more independent groups simultaneously.</a:t>
            </a:r>
          </a:p>
          <a:p>
            <a:pPr lvl="1"/>
            <a:r>
              <a:rPr lang="en-US" b="1" dirty="0"/>
              <a:t>When to use: </a:t>
            </a:r>
            <a:r>
              <a:rPr lang="en-US" dirty="0"/>
              <a:t>Compare the means of 3 or more groups on a continuous variable.</a:t>
            </a:r>
          </a:p>
          <a:p>
            <a:pPr lvl="1"/>
            <a:r>
              <a:rPr lang="en-US" b="1" dirty="0"/>
              <a:t>For Example: </a:t>
            </a:r>
            <a:r>
              <a:rPr lang="en-US" dirty="0"/>
              <a:t>Do the average total_price generated by all four pizza categories (Classic, Chicken, Supreme, and Veggie) differ significantly from one another?</a:t>
            </a:r>
          </a:p>
          <a:p>
            <a:pPr lvl="1"/>
            <a:r>
              <a:rPr lang="en-US" b="1" dirty="0"/>
              <a:t>Business Question: </a:t>
            </a:r>
            <a:r>
              <a:rPr lang="en-US" dirty="0"/>
              <a:t>Does a new training program done at three different locations (A, B, C) result in the same average performance score across all three locations?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ADF83D-8836-5758-8B41-BAF36E94A134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71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C5A1-B77D-164C-0E63-6107B385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EDE4-2D71-A6D5-C735-CD3E80C7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C0FF-E2FE-08D9-94CD-16897AA1E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4239031"/>
          </a:xfrm>
        </p:spPr>
        <p:txBody>
          <a:bodyPr>
            <a:normAutofit/>
          </a:bodyPr>
          <a:lstStyle/>
          <a:p>
            <a:r>
              <a:rPr lang="en-US" b="1" dirty="0"/>
              <a:t>Chi-Squared Test</a:t>
            </a:r>
          </a:p>
          <a:p>
            <a:pPr lvl="1"/>
            <a:r>
              <a:rPr lang="en-US" dirty="0"/>
              <a:t>The Chi-Squared test is fundamentally different because it is used for categorical data, not continuous data like (price or salary or temperature). </a:t>
            </a:r>
          </a:p>
          <a:p>
            <a:pPr lvl="1"/>
            <a:r>
              <a:rPr lang="en-US" dirty="0"/>
              <a:t>It determines if there is a relationship (</a:t>
            </a:r>
            <a:r>
              <a:rPr lang="en-US" b="1" dirty="0"/>
              <a:t>Dependent</a:t>
            </a:r>
            <a:r>
              <a:rPr lang="en-US" dirty="0"/>
              <a:t> and </a:t>
            </a:r>
            <a:r>
              <a:rPr lang="en-US" b="1" dirty="0"/>
              <a:t>Independent</a:t>
            </a:r>
            <a:r>
              <a:rPr lang="en-US" dirty="0"/>
              <a:t>) between two categorical variables.</a:t>
            </a:r>
          </a:p>
          <a:p>
            <a:pPr lvl="1"/>
            <a:r>
              <a:rPr lang="en-US" dirty="0"/>
              <a:t>For Example: </a:t>
            </a:r>
          </a:p>
          <a:p>
            <a:pPr lvl="2"/>
            <a:r>
              <a:rPr lang="en-US" dirty="0"/>
              <a:t>Pizza Category and Pizza Size are Independent. Customers choose a size regardless of the pizza category.</a:t>
            </a:r>
          </a:p>
          <a:p>
            <a:pPr lvl="2"/>
            <a:r>
              <a:rPr lang="en-US" dirty="0"/>
              <a:t>Pizza Category and Pizza Size are Dependent. Customers prefer certain sizes for certain category. (They order more Large Chicken pizza)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4D3085-76F4-EFF3-21B2-259340ED3CC8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22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AE44-7A8F-F7C8-52CC-E3CCD5D0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FCFA-9A10-82B3-A516-8C992FEB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5117082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Alpha Value and P-Value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384D-A63E-A64B-2C4C-8AD03772F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461317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Alpha(</a:t>
            </a:r>
            <a:r>
              <a:rPr lang="el-GR" b="1" dirty="0"/>
              <a:t>α</a:t>
            </a:r>
            <a:r>
              <a:rPr lang="en-US" b="1" dirty="0"/>
              <a:t>):</a:t>
            </a:r>
            <a:r>
              <a:rPr lang="en-US" dirty="0"/>
              <a:t> Your Risk Limit. Alpha value = 0.05 which means you accept a 5% chance of being wrong.</a:t>
            </a:r>
          </a:p>
          <a:p>
            <a:r>
              <a:rPr lang="en-US" b="1" dirty="0"/>
              <a:t>P-Value: </a:t>
            </a:r>
            <a:r>
              <a:rPr lang="en-US" dirty="0"/>
              <a:t>The Strength of the Evidence. The Probability of Coincidence.</a:t>
            </a:r>
          </a:p>
          <a:p>
            <a:r>
              <a:rPr lang="en-US" b="1" dirty="0"/>
              <a:t>The Decision of P-Value vs. Alpha</a:t>
            </a:r>
          </a:p>
          <a:p>
            <a:pPr lvl="1"/>
            <a:r>
              <a:rPr lang="en-US" dirty="0"/>
              <a:t>If P-value is less than Alpha value, then It means we must reject null hypothesis.</a:t>
            </a:r>
          </a:p>
          <a:p>
            <a:pPr lvl="2"/>
            <a:r>
              <a:rPr lang="en-US" b="1" u="sng" dirty="0"/>
              <a:t>Conclusion:</a:t>
            </a:r>
            <a:r>
              <a:rPr lang="en-US" u="sng" dirty="0"/>
              <a:t> We stick with Alternate Hypothesis.</a:t>
            </a:r>
          </a:p>
          <a:p>
            <a:pPr lvl="1"/>
            <a:r>
              <a:rPr lang="en-US" dirty="0"/>
              <a:t>If P-value is more than Alpha value, then it means we failed to reject null hypothesis.</a:t>
            </a:r>
          </a:p>
          <a:p>
            <a:pPr lvl="2"/>
            <a:r>
              <a:rPr lang="en-US" b="1" u="sng" dirty="0"/>
              <a:t>Conclusion: </a:t>
            </a:r>
            <a:r>
              <a:rPr lang="en-US" u="sng" dirty="0"/>
              <a:t>We stick with Null Hypothesis.</a:t>
            </a:r>
          </a:p>
          <a:p>
            <a:r>
              <a:rPr lang="en-US" b="1" dirty="0"/>
              <a:t>Note: </a:t>
            </a:r>
            <a:r>
              <a:rPr lang="en-US" dirty="0"/>
              <a:t>According to our comparison between P-value and Alpha value business decision can be made. According to our data which assumption is strong so that our business can be more accurate or precise for the customers.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33C5A2-657C-2521-1BF8-6305DBE9B662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037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FE73EA73BB7488EF1C5F1B1847098" ma:contentTypeVersion="7" ma:contentTypeDescription="Create a new document." ma:contentTypeScope="" ma:versionID="af84d5ca4b0e81e285edb3532840d7c7">
  <xsd:schema xmlns:xsd="http://www.w3.org/2001/XMLSchema" xmlns:xs="http://www.w3.org/2001/XMLSchema" xmlns:p="http://schemas.microsoft.com/office/2006/metadata/properties" xmlns:ns2="71073f72-8ead-4491-947e-06eaf593ac89" targetNamespace="http://schemas.microsoft.com/office/2006/metadata/properties" ma:root="true" ma:fieldsID="e1c613ed18fde9f6d41d18ead4c37f7b" ns2:_="">
    <xsd:import namespace="71073f72-8ead-4491-947e-06eaf593ac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73f72-8ead-4491-947e-06eaf593a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6D3DB0-1514-4061-BEE5-5262CE1DDBF4}"/>
</file>

<file path=customXml/itemProps2.xml><?xml version="1.0" encoding="utf-8"?>
<ds:datastoreItem xmlns:ds="http://schemas.openxmlformats.org/officeDocument/2006/customXml" ds:itemID="{D92DD927-2738-4214-9DE0-5A20E3FD9E11}"/>
</file>

<file path=customXml/itemProps3.xml><?xml version="1.0" encoding="utf-8"?>
<ds:datastoreItem xmlns:ds="http://schemas.openxmlformats.org/officeDocument/2006/customXml" ds:itemID="{A2E172C2-F44F-4705-AC44-B0EAFF1ADAC0}"/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102</TotalTime>
  <Words>611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Amasis MT Pro</vt:lpstr>
      <vt:lpstr>Aptos</vt:lpstr>
      <vt:lpstr>Arial</vt:lpstr>
      <vt:lpstr>Corbel</vt:lpstr>
      <vt:lpstr>Parallax</vt:lpstr>
      <vt:lpstr>Hypothesis Testing</vt:lpstr>
      <vt:lpstr>Table of Contents</vt:lpstr>
      <vt:lpstr>Hypothesis Testing</vt:lpstr>
      <vt:lpstr>What is Hypothesis Testing?</vt:lpstr>
      <vt:lpstr>Types of Hypothesis Testing?</vt:lpstr>
      <vt:lpstr>Rules of Hypothesis Testing?</vt:lpstr>
      <vt:lpstr>Types of Hypothesis Testing?</vt:lpstr>
      <vt:lpstr>Types of Hypothesis Testing?</vt:lpstr>
      <vt:lpstr>Types of Hypothesis Testing?</vt:lpstr>
      <vt:lpstr>Alpha Value and P-Value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Rusan Maharjan</dc:creator>
  <cp:lastModifiedBy>Rusan Maharjan</cp:lastModifiedBy>
  <cp:revision>1</cp:revision>
  <dcterms:created xsi:type="dcterms:W3CDTF">2025-12-08T15:22:48Z</dcterms:created>
  <dcterms:modified xsi:type="dcterms:W3CDTF">2026-04-27T12:16:54Z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0x0101004CCFE73EA73BB7488EF1C5F1B1847098</vt:lpwstr>
  </property>
</Properties>
</file>